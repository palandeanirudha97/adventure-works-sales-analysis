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24" r:id="rId7"/>
    <p:sldId id="307" r:id="rId8"/>
    <p:sldId id="282" r:id="rId9"/>
    <p:sldId id="314" r:id="rId10"/>
    <p:sldId id="322" r:id="rId11"/>
    <p:sldId id="315" r:id="rId12"/>
    <p:sldId id="323" r:id="rId13"/>
    <p:sldId id="317" r:id="rId14"/>
    <p:sldId id="318" r:id="rId15"/>
    <p:sldId id="281" r:id="rId16"/>
    <p:sldId id="319" r:id="rId17"/>
    <p:sldId id="321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84BC-A84D-1CC6-96DA-B7CF389E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801B6-92C5-C641-35B0-666950246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A17B4-7063-7BC4-122A-18C7C1909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94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3570-2346-D650-F707-5CA413DF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2B515-1BE3-B608-213A-A7B679231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B13F7-BC35-20A6-39A7-497F9CD77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83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6FC8-F3D7-3BAF-7BA9-9C8E3AC4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E1057-1F60-8591-1DA7-144E053DA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F33C2-C88D-CE35-3230-1A9D4F6A0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703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Adventure Sales  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72255"/>
            <a:ext cx="6583680" cy="135654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7" y="2310582"/>
            <a:ext cx="7747819" cy="3932902"/>
          </a:xfrm>
        </p:spPr>
        <p:txBody>
          <a:bodyPr numCol="2">
            <a:normAutofit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Introduction	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Group Details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KPI List    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Excel Dashboard                         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Tablue Dashboard 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Power BI Dashboard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SQL Script  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Summery of Project 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Suggestions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Final Tips &amp;Take Away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268E-2B48-7DB6-8C0E-B2914F937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9FF665-7A0D-2EDE-E08D-24D73AB6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351" y="928688"/>
            <a:ext cx="9875463" cy="791957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6FAF3B-BAF7-1E45-B624-848ED8CD2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9D854-1777-60C7-7766-6C3453F37DC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45478" y="1728979"/>
            <a:ext cx="990104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Adventure Works Cycles is a large multinational company that manufactures and sells bicycles</a:t>
            </a:r>
            <a:r>
              <a:rPr lang="en-US" altLang="en-US" b="1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Sells to markets across </a:t>
            </a:r>
            <a:r>
              <a:rPr lang="en-US" b="1" dirty="0"/>
              <a:t>North America, Europe and Asia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Head office is in </a:t>
            </a:r>
            <a:r>
              <a:rPr lang="en-US" b="1" dirty="0"/>
              <a:t>Bothell, Washington</a:t>
            </a:r>
            <a:r>
              <a:rPr lang="en-US" dirty="0"/>
              <a:t> with </a:t>
            </a:r>
            <a:r>
              <a:rPr lang="en-US" b="1" dirty="0"/>
              <a:t>290 employees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Has regional sales teams spread across all major markets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In 2000s, expanded by acquiring a </a:t>
            </a:r>
            <a:r>
              <a:rPr lang="en-US" b="1" dirty="0"/>
              <a:t>manufacturing plant in Mexico</a:t>
            </a:r>
            <a:r>
              <a:rPr lang="en-US" dirty="0"/>
              <a:t> for key bicycle parts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In 2001, the Mexico plant became the </a:t>
            </a:r>
            <a:r>
              <a:rPr lang="en-US" b="1" dirty="0"/>
              <a:t>sole manufacturer of the Touring Bicycle</a:t>
            </a:r>
            <a:r>
              <a:rPr lang="en-US" dirty="0"/>
              <a:t> product group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Company goal — grow market share, reach more customers, and </a:t>
            </a:r>
            <a:r>
              <a:rPr lang="en-US" b="1" dirty="0"/>
              <a:t>reduce production costs</a:t>
            </a:r>
            <a:r>
              <a:rPr lang="en-US" altLang="en-US" b="1" dirty="0"/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/>
              <a:t>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23650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15" y="334035"/>
            <a:ext cx="5723586" cy="5329345"/>
          </a:xfrm>
        </p:spPr>
        <p:txBody>
          <a:bodyPr/>
          <a:lstStyle/>
          <a:p>
            <a:r>
              <a:rPr lang="en-US" dirty="0"/>
              <a:t>Group Member Details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43CB27-79E9-7E83-FF77-02D6C8FC0206}"/>
              </a:ext>
            </a:extLst>
          </p:cNvPr>
          <p:cNvSpPr txBox="1">
            <a:spLocks/>
          </p:cNvSpPr>
          <p:nvPr/>
        </p:nvSpPr>
        <p:spPr>
          <a:xfrm>
            <a:off x="6263148" y="545428"/>
            <a:ext cx="6042866" cy="532934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DF8C8C"/>
                </a:solidFill>
                <a:latin typeface="+mn-lt"/>
              </a:rPr>
              <a:t>Nikita Meshram</a:t>
            </a:r>
          </a:p>
          <a:p>
            <a:pPr marL="571500" indent="-5715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DF8C8C"/>
                </a:solidFill>
                <a:latin typeface="+mn-lt"/>
              </a:rPr>
              <a:t>ANIRUDHA PALANDE</a:t>
            </a:r>
          </a:p>
          <a:p>
            <a:pPr marL="571500" indent="-5715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DF8C8C"/>
                </a:solidFill>
                <a:latin typeface="+mn-lt"/>
              </a:rPr>
              <a:t>Kaukuntla Venkatesh</a:t>
            </a:r>
          </a:p>
          <a:p>
            <a:pPr marL="571500" indent="-5715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0" dirty="0">
                <a:solidFill>
                  <a:srgbClr val="DF8C8C"/>
                </a:solidFill>
                <a:latin typeface="+mn-lt"/>
              </a:rPr>
              <a:t>MANGESHWARAN V K </a:t>
            </a:r>
            <a:endParaRPr lang="en-US" sz="2000" dirty="0">
              <a:solidFill>
                <a:srgbClr val="DF8C8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457199"/>
            <a:ext cx="7965461" cy="994164"/>
          </a:xfrm>
        </p:spPr>
        <p:txBody>
          <a:bodyPr/>
          <a:lstStyle/>
          <a:p>
            <a:pPr algn="ctr"/>
            <a:r>
              <a:rPr lang="en-US" dirty="0"/>
              <a:t>KPI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241755"/>
            <a:ext cx="7965460" cy="3558972"/>
          </a:xfrm>
        </p:spPr>
        <p:txBody>
          <a:bodyPr numCol="2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Total Sales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Total Profit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Total Products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Total customers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Quarter wise Sales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Year wise Total product cost &amp; sales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Month wise Total product cost &amp; sales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Month wise Total Sales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Region wise Sales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487" y="395441"/>
            <a:ext cx="7043617" cy="607449"/>
          </a:xfrm>
        </p:spPr>
        <p:txBody>
          <a:bodyPr/>
          <a:lstStyle/>
          <a:p>
            <a:pPr algn="ctr"/>
            <a:r>
              <a:rPr lang="en-US" dirty="0"/>
              <a:t>Excel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0927D7-1D1A-10EF-0C6B-3D3EE69D0D86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0" y="928688"/>
            <a:ext cx="12191999" cy="592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3CB78-8177-B564-AA5B-8DE0898B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CB0D-97CC-CFC1-89D2-2B21718D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487" y="395441"/>
            <a:ext cx="7043617" cy="607449"/>
          </a:xfrm>
        </p:spPr>
        <p:txBody>
          <a:bodyPr/>
          <a:lstStyle/>
          <a:p>
            <a:pPr algn="ctr"/>
            <a:r>
              <a:rPr lang="en-US" dirty="0"/>
              <a:t>Excel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826BE-E58F-17B3-0148-A6393DC44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765195-666E-2E72-96FE-29B7E0169B73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0" y="990446"/>
            <a:ext cx="12192000" cy="586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63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2276"/>
            <a:ext cx="7796464" cy="866253"/>
          </a:xfrm>
        </p:spPr>
        <p:txBody>
          <a:bodyPr/>
          <a:lstStyle/>
          <a:p>
            <a:r>
              <a:rPr lang="en-US" dirty="0"/>
              <a:t>Tablue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8503F4-C5A9-9AB2-0437-62F4E27B588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0" y="1258529"/>
            <a:ext cx="12192000" cy="54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4664-260D-F873-AF0C-DB2A5D0A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E11-6A74-A9D0-0B9E-2C32DC3FE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2276"/>
            <a:ext cx="7796464" cy="866253"/>
          </a:xfrm>
        </p:spPr>
        <p:txBody>
          <a:bodyPr/>
          <a:lstStyle/>
          <a:p>
            <a:r>
              <a:rPr lang="en-US" dirty="0"/>
              <a:t>Tablue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3269EC-9029-AC10-5853-D477BF0E5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4935EF-E12A-A5F9-AFA1-CD2862FDB5A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0" y="1258528"/>
            <a:ext cx="12192000" cy="559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0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651" y="457199"/>
            <a:ext cx="7631709" cy="762001"/>
          </a:xfrm>
        </p:spPr>
        <p:txBody>
          <a:bodyPr/>
          <a:lstStyle/>
          <a:p>
            <a:pPr algn="ctr"/>
            <a:r>
              <a:rPr lang="en-US" dirty="0"/>
              <a:t>Power BI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9D5601-1531-1754-1FF6-EFFCD2596AF5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521110" y="1435511"/>
            <a:ext cx="9320980" cy="52110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478" y="241042"/>
            <a:ext cx="7843837" cy="643707"/>
          </a:xfrm>
        </p:spPr>
        <p:txBody>
          <a:bodyPr/>
          <a:lstStyle/>
          <a:p>
            <a:pPr algn="ctr"/>
            <a:r>
              <a:rPr lang="en-US" dirty="0"/>
              <a:t>SQL Script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F81A66-8F84-75F5-E012-D705E52C827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0" y="1061577"/>
            <a:ext cx="5652396" cy="5796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0214C6-4EA4-18B9-77D5-B7C3CB3F9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396" y="1061577"/>
            <a:ext cx="6539604" cy="5796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38" y="447675"/>
            <a:ext cx="9822427" cy="1027164"/>
          </a:xfrm>
        </p:spPr>
        <p:txBody>
          <a:bodyPr/>
          <a:lstStyle/>
          <a:p>
            <a:pPr algn="ctr"/>
            <a:r>
              <a:rPr lang="en-US" dirty="0"/>
              <a:t>Summery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154" y="1759974"/>
            <a:ext cx="9556956" cy="4798142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900" dirty="0">
                <a:solidFill>
                  <a:schemeClr val="bg1">
                    <a:lumMod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analysis reveals total sales of ₹29.36M, generating a profit of ₹12.08M, across 606 products, 60,398 orders, and 18,484 customers.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900" dirty="0">
              <a:solidFill>
                <a:schemeClr val="bg1">
                  <a:lumMod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900" dirty="0">
                <a:solidFill>
                  <a:schemeClr val="bg1">
                    <a:lumMod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Quarter‑wise sales distribution reflects steady growth: highlighting performance across countries.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900" dirty="0">
              <a:solidFill>
                <a:schemeClr val="bg1">
                  <a:lumMod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900" dirty="0">
                <a:solidFill>
                  <a:schemeClr val="bg1">
                    <a:lumMod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line chart further illustrates yearly sales trends, highlighting growth patterns and performance across different years.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900" dirty="0">
              <a:solidFill>
                <a:schemeClr val="bg1">
                  <a:lumMod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900" dirty="0">
                <a:solidFill>
                  <a:schemeClr val="bg1">
                    <a:lumMod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combo chart highlights monthly profit and sales performance across countries.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900" dirty="0">
              <a:solidFill>
                <a:schemeClr val="bg1">
                  <a:lumMod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900" dirty="0">
                <a:solidFill>
                  <a:schemeClr val="bg1">
                    <a:lumMod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bar chart shows year‑wise total production cost and sales.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464864"/>
            <a:ext cx="9879437" cy="572439"/>
          </a:xfrm>
        </p:spPr>
        <p:txBody>
          <a:bodyPr/>
          <a:lstStyle/>
          <a:p>
            <a:pPr algn="ctr"/>
            <a:r>
              <a:rPr lang="en-US" dirty="0"/>
              <a:t>Suggestions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BA40CC-B233-5BD0-36CE-065AFD972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846" y="1044968"/>
            <a:ext cx="10017202" cy="5247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Total Sales — 29.36 Million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Focus on </a:t>
            </a:r>
            <a:r>
              <a:rPr lang="en-US" b="1" dirty="0"/>
              <a:t>Q4 marketing campaigns</a:t>
            </a:r>
            <a:r>
              <a:rPr lang="en-US" dirty="0"/>
              <a:t> since it generates the highest sales — invest more in festive season promotions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Sales in </a:t>
            </a:r>
            <a:r>
              <a:rPr lang="en-US" b="1" dirty="0"/>
              <a:t>2010 and 2014 are very low</a:t>
            </a:r>
            <a:r>
              <a:rPr lang="en-US" dirty="0"/>
              <a:t> — investigate the reason and avoid repeating those gaps</a:t>
            </a:r>
          </a:p>
          <a:p>
            <a:pPr marL="0" indent="0">
              <a:buNone/>
            </a:pPr>
            <a:r>
              <a:rPr lang="en-US" b="1" dirty="0"/>
              <a:t>Total Customers — 18,000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large customer base exists — introduce a </a:t>
            </a:r>
            <a:r>
              <a:rPr lang="en-US" b="1" dirty="0"/>
              <a:t>loyalty or repeat purchase program</a:t>
            </a:r>
            <a:r>
              <a:rPr lang="en-US" dirty="0"/>
              <a:t> to retain them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Focus on converting </a:t>
            </a:r>
            <a:r>
              <a:rPr lang="en-US" b="1" dirty="0"/>
              <a:t>one-time buyers into regular customers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Total Products — 606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Out of 606 products, only a </a:t>
            </a:r>
            <a:r>
              <a:rPr lang="en-US" b="1" dirty="0"/>
              <a:t>few top products drive most revenue</a:t>
            </a:r>
            <a:r>
              <a:rPr lang="en-US" dirty="0"/>
              <a:t> — discontinue or reduce focus on very low selling products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Invest in </a:t>
            </a:r>
            <a:r>
              <a:rPr lang="en-US" b="1" dirty="0"/>
              <a:t>promoting the top 10 products</a:t>
            </a:r>
            <a:r>
              <a:rPr lang="en-US" dirty="0"/>
              <a:t> more aggressively across all markets</a:t>
            </a:r>
          </a:p>
          <a:p>
            <a:pPr marL="0" indent="0">
              <a:buNone/>
            </a:pPr>
            <a:r>
              <a:rPr lang="en-US" b="1" dirty="0"/>
              <a:t>Total Orders — 60,000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High order volume shows strong demand — ensure </a:t>
            </a:r>
            <a:r>
              <a:rPr lang="en-US" b="1" dirty="0"/>
              <a:t>supply chain and stock levels</a:t>
            </a:r>
            <a:r>
              <a:rPr lang="en-US" dirty="0"/>
              <a:t> are always maintained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United States is the top market — </a:t>
            </a:r>
            <a:r>
              <a:rPr lang="en-US" b="1" dirty="0"/>
              <a:t>expand distribution</a:t>
            </a:r>
            <a:r>
              <a:rPr lang="en-US" dirty="0"/>
              <a:t> in underperforming countries like France and Germany</a:t>
            </a: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351" y="928688"/>
            <a:ext cx="9875463" cy="791957"/>
          </a:xfrm>
        </p:spPr>
        <p:txBody>
          <a:bodyPr/>
          <a:lstStyle/>
          <a:p>
            <a:pPr algn="ctr"/>
            <a:r>
              <a:rPr lang="en-US" dirty="0"/>
              <a:t>Final tips &amp; takeaways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C777DF-9589-5523-69BE-CBB558893DD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018" y="1997839"/>
            <a:ext cx="116361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b="1" dirty="0"/>
              <a:t>2013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/>
              <a:t>was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/>
              <a:t>the best year with 16.4 Million in sales — strategies from that year should be studied and repeated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b="1" dirty="0"/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b="1" dirty="0"/>
              <a:t>Q4 is always the strongest quarter — business should plan stock, staff and marketing around this period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b="1" dirty="0"/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b="1" dirty="0"/>
              <a:t>Top few products generate most revenue — these need priority attention at all times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b="1" dirty="0"/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b="1" dirty="0"/>
              <a:t>United States is the #1 market — followed by Australia and United Kingdom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b="1" dirty="0"/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b="1" dirty="0"/>
              <a:t>The business is profitable every single month — production costs are always below sales revenue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124" y="849782"/>
            <a:ext cx="6518786" cy="3781212"/>
          </a:xfrm>
        </p:spPr>
        <p:txBody>
          <a:bodyPr/>
          <a:lstStyle/>
          <a:p>
            <a:r>
              <a:rPr lang="en-US" sz="6000" dirty="0">
                <a:latin typeface="Forte" panose="03060902040502070203" pitchFamily="66" charset="0"/>
              </a:rPr>
              <a:t>Thank </a:t>
            </a:r>
            <a:br>
              <a:rPr lang="en-US" sz="6000" dirty="0">
                <a:latin typeface="Forte" panose="03060902040502070203" pitchFamily="66" charset="0"/>
              </a:rPr>
            </a:br>
            <a:r>
              <a:rPr lang="en-US" sz="6000" dirty="0">
                <a:latin typeface="Forte" panose="03060902040502070203" pitchFamily="66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{C80B55E1-44CE-4840-86A9-6C050A6D7126}TF8a9b5915-b8c7-461e-8cdd-693d48b5e32371f7b7e2_win32-4bf0b9a2ea37</Template>
  <TotalTime>138</TotalTime>
  <Words>510</Words>
  <Application>Microsoft Office PowerPoint</Application>
  <PresentationFormat>Widescreen</PresentationFormat>
  <Paragraphs>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Forte</vt:lpstr>
      <vt:lpstr>Sabon Next LT</vt:lpstr>
      <vt:lpstr>Wingdings</vt:lpstr>
      <vt:lpstr>Custom</vt:lpstr>
      <vt:lpstr>Adventure Sales   Analysis</vt:lpstr>
      <vt:lpstr>agenda</vt:lpstr>
      <vt:lpstr>introduction</vt:lpstr>
      <vt:lpstr>Group Member Details</vt:lpstr>
      <vt:lpstr>KPI List</vt:lpstr>
      <vt:lpstr>Excel Dashboard</vt:lpstr>
      <vt:lpstr>Excel Dashboard</vt:lpstr>
      <vt:lpstr>Tablue Dashboard</vt:lpstr>
      <vt:lpstr>Tablue Dashboard</vt:lpstr>
      <vt:lpstr>Power BI Dashboard</vt:lpstr>
      <vt:lpstr>SQL Script</vt:lpstr>
      <vt:lpstr>Summery of the Project</vt:lpstr>
      <vt:lpstr>Suggestions</vt:lpstr>
      <vt:lpstr>Final tips &amp; takeaways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Nikita Meshram</dc:creator>
  <cp:lastModifiedBy>ANIRUDHA PALANDE</cp:lastModifiedBy>
  <cp:revision>3</cp:revision>
  <dcterms:created xsi:type="dcterms:W3CDTF">2026-03-23T15:41:48Z</dcterms:created>
  <dcterms:modified xsi:type="dcterms:W3CDTF">2026-03-29T19:49:41Z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